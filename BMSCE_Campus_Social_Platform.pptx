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28F5F"/>
                </a:solidFill>
                <a:latin typeface="Arial"/>
              </a:defRPr>
            </a:pPr>
            <a:r>
              <a:t>NEXT-GENERATION STUDENT ENGAGEMENT</a:t>
            </a:r>
          </a:p>
          <a:p>
            <a:pPr>
              <a:spcAft>
                <a:spcPts val="800"/>
              </a:spcAft>
              <a:defRPr sz="4400" b="1">
                <a:solidFill>
                  <a:srgbClr val="333136"/>
                </a:solidFill>
                <a:latin typeface="Arial"/>
              </a:defRPr>
            </a:pPr>
            <a:r>
              <a:t>BMSCE Campus Social &amp; Intelligence Platform</a:t>
            </a:r>
          </a:p>
          <a:p>
            <a:pPr>
              <a:defRPr sz="1800">
                <a:solidFill>
                  <a:srgbClr val="635D73"/>
                </a:solidFill>
                <a:latin typeface="Arial"/>
              </a:defRPr>
            </a:pPr>
            <a:r>
              <a:t>A Gamified, AI-Powered Offline-First Campus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CHALLENGES IN STUDENT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The Problem: A Disconnected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•  Freshman Isolation &amp; Friction: </a:t>
            </a:r>
          </a:p>
          <a:p>
            <a:pPr>
              <a:spcAft>
                <a:spcPts val="800"/>
              </a:spcAft>
              <a:defRPr sz="1300">
                <a:solidFill>
                  <a:srgbClr val="635D73"/>
                </a:solidFill>
                <a:latin typeface="Arial"/>
              </a:defRPr>
            </a:pPr>
            <a:r>
              <a:t>New students face a steep learning curve adapting to campus geography, building nomenclature, and academic clubs, leading to early social friction and isolation.</a:t>
            </a:r>
          </a:p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•  Fragmented Communication Channels: </a:t>
            </a:r>
          </a:p>
          <a:p>
            <a:pPr>
              <a:spcAft>
                <a:spcPts val="800"/>
              </a:spcAft>
              <a:defRPr sz="1300">
                <a:solidFill>
                  <a:srgbClr val="635D73"/>
                </a:solidFill>
                <a:latin typeface="Arial"/>
              </a:defRPr>
            </a:pPr>
            <a:r>
              <a:t>Campus updates, hackathons, and workshops are scattered across email lists, chat groups, and physical notice boards, causing students to miss important events.</a:t>
            </a:r>
          </a:p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•  Lack of Target Peer Matching: </a:t>
            </a:r>
          </a:p>
          <a:p>
            <a:pPr>
              <a:spcAft>
                <a:spcPts val="800"/>
              </a:spcAft>
              <a:defRPr sz="1300">
                <a:solidFill>
                  <a:srgbClr val="635D73"/>
                </a:solidFill>
                <a:latin typeface="Arial"/>
              </a:defRPr>
            </a:pPr>
            <a:r>
              <a:t>Finding classmates with matching technical skills (e.g., React, Python) or mutual hobbies (e.g., Chess, Sketching) for team sprints is highly unstructured and inefficient.</a:t>
            </a:r>
          </a:p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•  Static Navigation Tools: </a:t>
            </a:r>
          </a:p>
          <a:p>
            <a:pPr>
              <a:spcAft>
                <a:spcPts val="800"/>
              </a:spcAft>
              <a:defRPr sz="1300">
                <a:solidFill>
                  <a:srgbClr val="635D73"/>
                </a:solidFill>
                <a:latin typeface="Arial"/>
              </a:defRPr>
            </a:pPr>
            <a:r>
              <a:t>Traditional campus layout maps are static PDFs that do not encourage exploration, leaving students unaware of key resources like hardware labs, printing kiosks, and quiet study zones.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SOLUTION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Scope: 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A27CF8"/>
                </a:solidFill>
                <a:latin typeface="Arial"/>
              </a:defRPr>
            </a:pPr>
            <a:r>
              <a:t>✔  Gamified Campus Exploration Scanner</a:t>
            </a:r>
          </a:p>
          <a:p>
            <a:pPr>
              <a:spcAft>
                <a:spcPts val="6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A mobile-first web scanner allowing students to scan landmarks, verify locations, and unlock coordinate cards under distinct Rarity Tiers.</a:t>
            </a:r>
          </a:p>
          <a:p>
            <a:pPr>
              <a:spcBef>
                <a:spcPts val="600"/>
              </a:spcBef>
              <a:defRPr sz="1500" b="1">
                <a:solidFill>
                  <a:srgbClr val="A27CF8"/>
                </a:solidFill>
                <a:latin typeface="Arial"/>
              </a:defRPr>
            </a:pPr>
            <a:r>
              <a:t>✔  Fog-of-War Interactive Campus Map</a:t>
            </a:r>
          </a:p>
          <a:p>
            <a:pPr>
              <a:spcAft>
                <a:spcPts val="6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An interactive map starts greyed out and opens up tile-by-tile as students scan and visit physical blocks, gamifying campus layouts.</a:t>
            </a:r>
          </a:p>
          <a:p>
            <a:pPr>
              <a:spcBef>
                <a:spcPts val="600"/>
              </a:spcBef>
              <a:defRPr sz="1500" b="1">
                <a:solidFill>
                  <a:srgbClr val="A27CF8"/>
                </a:solidFill>
                <a:latin typeface="Arial"/>
              </a:defRPr>
            </a:pPr>
            <a:r>
              <a:t>✔  Campus Passport &amp; Badge System</a:t>
            </a:r>
          </a:p>
          <a:p>
            <a:pPr>
              <a:spcAft>
                <a:spcPts val="6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A collection checkbook documenting stamps for scanned zones. Completing building sets unlocks badges and XP rank levels.</a:t>
            </a:r>
          </a:p>
          <a:p>
            <a:pPr>
              <a:spcBef>
                <a:spcPts val="600"/>
              </a:spcBef>
              <a:defRPr sz="1500" b="1">
                <a:solidFill>
                  <a:srgbClr val="A27CF8"/>
                </a:solidFill>
                <a:latin typeface="Arial"/>
              </a:defRPr>
            </a:pPr>
            <a:r>
              <a:t>✔  Skill-Based Social Matchmaking</a:t>
            </a:r>
          </a:p>
          <a:p>
            <a:pPr>
              <a:spcAft>
                <a:spcPts val="6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Direct student matching displaying overlapping hobbies and skills percentages, providing connections and sharing verified pins.</a:t>
            </a:r>
          </a:p>
          <a:p>
            <a:pPr>
              <a:spcBef>
                <a:spcPts val="600"/>
              </a:spcBef>
              <a:defRPr sz="1500" b="1">
                <a:solidFill>
                  <a:srgbClr val="A27CF8"/>
                </a:solidFill>
                <a:latin typeface="Arial"/>
              </a:defRPr>
            </a:pPr>
            <a:r>
              <a:t>✔  Databricks Genie AI Insights Desk</a:t>
            </a:r>
          </a:p>
          <a:p>
            <a:pPr>
              <a:spcAft>
                <a:spcPts val="6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An analytics panel translating conversational questions from admins into structured charts showing campus traffic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INTEGRATED STUDENT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BMSCE Platform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Mobile Front-End Client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A responsive app offering five interactive tabs: Explorer (map/scanner), Campus (matches), Genie (AI chatbot), Inbox (messaging), and Profile.</a:t>
            </a:r>
          </a:p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Serverless Backend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Cloud-native middleware routing scan photo compression, streak dates, and real-time message sync.</a:t>
            </a:r>
          </a:p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Analytics Data Ingestion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Firestore data is synced directly to a Delta Lakehouse environment, where administrators perform zero-code analytics using natural language.</a:t>
            </a:r>
          </a:p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Student Community Board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A peer-to-peer forum filtered by categories like #Hackathons and #Workshops, helping students broadcast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5D73"/>
                </a:solidFill>
                <a:latin typeface="Arial"/>
              </a:defRPr>
            </a:pPr>
            <a:r>
              <a:t>[ ECOSYSTEM ARCHITECTURE DIAGRAM / PREVIEW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GAMIFIED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User Journey: Exploring the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1. Check Locked Zones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User inspects the Fog Map and finds the 'Engineering block C' sector coordinates greyed out.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2. Scan Location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User visits the building, opens the Scanner, and snaps a photograph of the Robotics Lab.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3. Stamp Passport &amp; Unlocks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Firestore stores the scan, stamps their Passport with an official ink seal, and clears the fog to show a CPU icon.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4. Level Up Celebration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The scan earns them +120 XP (First to Document) triggering the rank promotion overlay to level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5D73"/>
                </a:solidFill>
                <a:latin typeface="Arial"/>
              </a:defRPr>
            </a:pPr>
            <a:r>
              <a:t>[ SCREENSHOT: EXPLORER SCAN / FOG MAP / PASSPORT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SOCIAL MATCHMAKING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User Journey: Finding Your Tribe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1. Input Interest Tags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User edits profile, selecting skills (React, Figma) and hobbies (Chess, Gaming).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2. View Smart Match Scores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The Matchmaker algorithm compares profiles and displays peers sorted by matching ratios (e.g. 85% overlap).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3. Connect &amp; Start Chatting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User taps Connect to immediately trigger a peer notification and open a DM thread.</a:t>
            </a:r>
          </a:p>
          <a:p>
            <a:pPr>
              <a:spcBef>
                <a:spcPts val="600"/>
              </a:spcBef>
              <a:defRPr sz="1400" b="1">
                <a:solidFill>
                  <a:srgbClr val="333136"/>
                </a:solidFill>
                <a:latin typeface="Arial"/>
              </a:defRPr>
            </a:pPr>
            <a:r>
              <a:t>4. Pin Spot Coordinates</a:t>
            </a:r>
          </a:p>
          <a:p>
            <a:pPr>
              <a:spcAft>
                <a:spcPts val="6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User shares the coordinates of a newly unlocked 'Hidden Gem' study room in the chat, allowing the peer to view it instantly.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5D73"/>
                </a:solidFill>
                <a:latin typeface="Arial"/>
              </a:defRPr>
            </a:pPr>
            <a:r>
              <a:t>[ SCREENSHOT: HUB MATCHES / PRIVATE CHAT / DMs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COMPONENTS &amp; CLOUD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A27CF8"/>
                </a:solidFill>
                <a:latin typeface="Arial"/>
              </a:defRPr>
            </a:pPr>
            <a:r>
              <a:t>■  Frontend (Vercel)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Next.js pages cache assets locally. Connects securely via firebase-auth client integrations.</a:t>
            </a:r>
          </a:p>
          <a:p>
            <a:pPr>
              <a:spcBef>
                <a:spcPts val="800"/>
              </a:spcBef>
              <a:defRPr sz="1400" b="1">
                <a:solidFill>
                  <a:srgbClr val="A27CF8"/>
                </a:solidFill>
                <a:latin typeface="Arial"/>
              </a:defRPr>
            </a:pPr>
            <a:r>
              <a:t>■  Backend API (Render/GCP)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Runs Express controllers checking scan geofences, streak intervals, and message dispatches.</a:t>
            </a:r>
          </a:p>
          <a:p>
            <a:pPr>
              <a:spcBef>
                <a:spcPts val="800"/>
              </a:spcBef>
              <a:defRPr sz="1400" b="1">
                <a:solidFill>
                  <a:srgbClr val="A27CF8"/>
                </a:solidFill>
                <a:latin typeface="Arial"/>
              </a:defRPr>
            </a:pPr>
            <a:r>
              <a:t>■  NoSQL Database (Firestore)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Generous free-tier document collections storing user info, locations, and chat databases.</a:t>
            </a:r>
          </a:p>
          <a:p>
            <a:pPr>
              <a:spcBef>
                <a:spcPts val="800"/>
              </a:spcBef>
              <a:defRPr sz="1400" b="1">
                <a:solidFill>
                  <a:srgbClr val="A27CF8"/>
                </a:solidFill>
                <a:latin typeface="Arial"/>
              </a:defRPr>
            </a:pPr>
            <a:r>
              <a:t>■  Cloud Storage (Cloudinary)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Handles instant image compression, resizing, and global CDN hosting for scan uploads.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5D73"/>
                </a:solidFill>
                <a:latin typeface="Arial"/>
              </a:defRPr>
            </a:pPr>
            <a:r>
              <a:t>[ DIAGRAM: SYSTEM ARCHITECTURE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INFORMATION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Data &amp; User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F28F5F"/>
                </a:solidFill>
                <a:latin typeface="Arial"/>
              </a:defRPr>
            </a:pPr>
            <a:r>
              <a:t>Location Scan Flow</a:t>
            </a:r>
          </a:p>
          <a:p>
            <a:pPr>
              <a:spcAft>
                <a:spcPts val="8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Client takes photo -&gt; API uploads it to Cloudinary -&gt; API checks first-ever scan count -&gt; Firestore locks/unlocks the passport stamp.</a:t>
            </a:r>
          </a:p>
          <a:p>
            <a:pPr>
              <a:spcBef>
                <a:spcPts val="800"/>
              </a:spcBef>
              <a:defRPr sz="1400" b="1">
                <a:solidFill>
                  <a:srgbClr val="F28F5F"/>
                </a:solidFill>
                <a:latin typeface="Arial"/>
              </a:defRPr>
            </a:pPr>
            <a:r>
              <a:t>Streak heartbeats Flow</a:t>
            </a:r>
          </a:p>
          <a:p>
            <a:pPr>
              <a:spcAft>
                <a:spcPts val="8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Firestore compares timestamp dates -&gt; if exactly 24h since last scan, increments streak and triggers +25 XP bonus.</a:t>
            </a:r>
          </a:p>
          <a:p>
            <a:pPr>
              <a:spcBef>
                <a:spcPts val="800"/>
              </a:spcBef>
              <a:defRPr sz="1400" b="1">
                <a:solidFill>
                  <a:srgbClr val="F28F5F"/>
                </a:solidFill>
                <a:latin typeface="Arial"/>
              </a:defRPr>
            </a:pPr>
            <a:r>
              <a:t>Databricks Genie Ingestion Flow</a:t>
            </a:r>
          </a:p>
          <a:p>
            <a:pPr>
              <a:spcAft>
                <a:spcPts val="800"/>
              </a:spcAft>
              <a:defRPr sz="1150">
                <a:solidFill>
                  <a:srgbClr val="635D73"/>
                </a:solidFill>
                <a:latin typeface="Arial"/>
              </a:defRPr>
            </a:pPr>
            <a:r>
              <a:t>Firestore collections -&gt; Syncs to GCS Bucket via Firebase Extension -&gt; Mounted as Delta Tables in Databricks -&gt; Genie Agent parses query requests.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5D73"/>
                </a:solidFill>
                <a:latin typeface="Arial"/>
              </a:defRPr>
            </a:pPr>
            <a:r>
              <a:t>[ DIAGRAM: DATA SEQUENCE FLOW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FIRESTORE NOSQL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Data Model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1. users Collection</a:t>
            </a:r>
          </a:p>
          <a:p>
            <a:pPr>
              <a:spcAft>
                <a:spcPts val="6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Paths: `/users/{userId}`. Fields: `name`, `username`, `avatarUrl`, `level`, `xp`, `interests`, `skills`, `exploreStreak`, `lastScanDate`.</a:t>
            </a:r>
          </a:p>
          <a:p>
            <a:pPr>
              <a:spcBef>
                <a:spcPts val="6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2. locations Collection</a:t>
            </a:r>
          </a:p>
          <a:p>
            <a:pPr>
              <a:spcAft>
                <a:spcPts val="6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Paths: `/locations/{locationId}`. Fields: `name`, `building`, `floor`, `coordinates`, `rarity`, `facilities`, `tips`.</a:t>
            </a:r>
          </a:p>
          <a:p>
            <a:pPr>
              <a:spcBef>
                <a:spcPts val="6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3. passport_stamps Collection</a:t>
            </a:r>
          </a:p>
          <a:p>
            <a:pPr>
              <a:spcAft>
                <a:spcPts val="6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Paths: `/users/{userId}/stamps/{stampId}`. Fields: `locationId`, `unlockedAt`, `isFirstDocumenter`, `locationName`.</a:t>
            </a:r>
          </a:p>
          <a:p>
            <a:pPr>
              <a:spcBef>
                <a:spcPts val="6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4. messages Collection</a:t>
            </a:r>
          </a:p>
          <a:p>
            <a:pPr>
              <a:spcAft>
                <a:spcPts val="6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Paths: `/chats/{chatId}/messages/{messageId}`. Fields: `senderId`, `receiverId`, `text`, `imageUrl`, `sharedLocationId`, `timestamp`.</a:t>
            </a:r>
          </a:p>
          <a:p>
            <a:pPr>
              <a:spcBef>
                <a:spcPts val="6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5. discussion_posts Collection</a:t>
            </a:r>
          </a:p>
          <a:p>
            <a:pPr>
              <a:spcAft>
                <a:spcPts val="6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Paths: `/posts/{postId}`. Fields: `authorName`, `title`, `content`, `tag`, `likes`, `timestamp`.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INTELLIGENT CAMPUS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AI Features and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★  Databricks Genie Analytics Agent</a:t>
            </a:r>
          </a:p>
          <a:p>
            <a:pPr>
              <a:spcAft>
                <a:spcPts val="8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Grounds admin queries using schema context files. Translates questions like 'Which buildings are trending?' into optimized Delta Lakehouse SQL commands, plotting tables dynamically without coding errors.</a:t>
            </a:r>
          </a:p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★  Google Gemini Chatbot (Genie Tab)</a:t>
            </a:r>
          </a:p>
          <a:p>
            <a:pPr>
              <a:spcAft>
                <a:spcPts val="8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Integrates Gemini SDK within the app. Grounded by system prompt injection containing college guidelines, printing rates, club contacts, and directories to answer student questions accurately.</a:t>
            </a:r>
          </a:p>
          <a:p>
            <a:pPr>
              <a:spcBef>
                <a:spcPts val="800"/>
              </a:spcBef>
              <a:defRPr sz="1500" b="1">
                <a:solidFill>
                  <a:srgbClr val="F28F5F"/>
                </a:solidFill>
                <a:latin typeface="Arial"/>
              </a:defRPr>
            </a:pPr>
            <a:r>
              <a:t>★  Automated Peer Matchmaker</a:t>
            </a:r>
          </a:p>
          <a:p>
            <a:pPr>
              <a:spcAft>
                <a:spcPts val="800"/>
              </a:spcAft>
              <a:defRPr sz="1250">
                <a:solidFill>
                  <a:srgbClr val="333136"/>
                </a:solidFill>
                <a:latin typeface="Arial"/>
              </a:defRPr>
            </a:pPr>
            <a:r>
              <a:t>Heuristic filtering computes overlap ratios in user profiles to suggest partners, mapping matching percentages on student cards for project sprints.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IMPACT AND 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Value Proposition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●  For Students: Gamified Integration &amp; Peer Matching</a:t>
            </a:r>
          </a:p>
          <a:p>
            <a:pPr>
              <a:spcAft>
                <a:spcPts val="800"/>
              </a:spcAft>
              <a:defRPr sz="1250">
                <a:solidFill>
                  <a:srgbClr val="635D73"/>
                </a:solidFill>
                <a:latin typeface="Arial"/>
              </a:defRPr>
            </a:pPr>
            <a:r>
              <a:t>Speeds up campus onboarding for freshers. Provides an intuitive way to discover facilities (printer spots, quiet rooms) and find relevant study/hackathon teams.</a:t>
            </a:r>
          </a:p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●  For Admins: Decentered Analytics &amp; Flow Insights</a:t>
            </a:r>
          </a:p>
          <a:p>
            <a:pPr>
              <a:spcAft>
                <a:spcPts val="800"/>
              </a:spcAft>
              <a:defRPr sz="1250">
                <a:solidFill>
                  <a:srgbClr val="635D73"/>
                </a:solidFill>
                <a:latin typeface="Arial"/>
              </a:defRPr>
            </a:pPr>
            <a:r>
              <a:t>Saves time generating charts. Using Databricks Genie, admins query user scan coordinates and traffic logs through plain text to identify bottleneck hotspots on campus.</a:t>
            </a:r>
          </a:p>
          <a:p>
            <a:pPr>
              <a:spcBef>
                <a:spcPts val="800"/>
              </a:spcBef>
              <a:defRPr sz="1500" b="1">
                <a:solidFill>
                  <a:srgbClr val="333136"/>
                </a:solidFill>
                <a:latin typeface="Arial"/>
              </a:defRPr>
            </a:pPr>
            <a:r>
              <a:t>●  For the Institution: Increased Engagement</a:t>
            </a:r>
          </a:p>
          <a:p>
            <a:pPr>
              <a:spcAft>
                <a:spcPts val="800"/>
              </a:spcAft>
              <a:defRPr sz="1250">
                <a:solidFill>
                  <a:srgbClr val="635D73"/>
                </a:solidFill>
                <a:latin typeface="Arial"/>
              </a:defRPr>
            </a:pPr>
            <a:r>
              <a:t>Increases student event attendance and builds a collaborative, supportive campus community by unifying chats, forum boards, and scavenger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FREE-TIER PRODUCTION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>
                <a:solidFill>
                  <a:srgbClr val="A27CF8"/>
                </a:solidFill>
                <a:latin typeface="Arial"/>
              </a:defRPr>
            </a:pPr>
            <a:r>
              <a:t>✔  Next.js 14 &amp; React 18 (Vercel Hosting)</a:t>
            </a:r>
          </a:p>
          <a:p>
            <a:pPr>
              <a:spcAft>
                <a:spcPts val="6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Free tier handles asset loading, page transitions, and animations with 100 GB bandwidth monthly.</a:t>
            </a:r>
          </a:p>
          <a:p>
            <a:pPr>
              <a:spcBef>
                <a:spcPts val="600"/>
              </a:spcBef>
              <a:defRPr sz="1450" b="1">
                <a:solidFill>
                  <a:srgbClr val="A27CF8"/>
                </a:solidFill>
                <a:latin typeface="Arial"/>
              </a:defRPr>
            </a:pPr>
            <a:r>
              <a:t>✔  Google Cloud Firestore (Firebase Free Storage)</a:t>
            </a:r>
          </a:p>
          <a:p>
            <a:pPr>
              <a:spcAft>
                <a:spcPts val="6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Generous database limits: 50k reads, 20k writes, 20k deletes daily, and 1 GiB data storage.</a:t>
            </a:r>
          </a:p>
          <a:p>
            <a:pPr>
              <a:spcBef>
                <a:spcPts val="600"/>
              </a:spcBef>
              <a:defRPr sz="1450" b="1">
                <a:solidFill>
                  <a:srgbClr val="A27CF8"/>
                </a:solidFill>
                <a:latin typeface="Arial"/>
              </a:defRPr>
            </a:pPr>
            <a:r>
              <a:t>✔  Node.js &amp; Express (Render Hosting)</a:t>
            </a:r>
          </a:p>
          <a:p>
            <a:pPr>
              <a:spcAft>
                <a:spcPts val="6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Hosts middle layer API for location geofencing, explore streaks, and messaging triggers.</a:t>
            </a:r>
          </a:p>
          <a:p>
            <a:pPr>
              <a:spcBef>
                <a:spcPts val="600"/>
              </a:spcBef>
              <a:defRPr sz="1450" b="1">
                <a:solidFill>
                  <a:srgbClr val="A27CF8"/>
                </a:solidFill>
                <a:latin typeface="Arial"/>
              </a:defRPr>
            </a:pPr>
            <a:r>
              <a:t>✔  Cloudinary Media Storage</a:t>
            </a:r>
          </a:p>
          <a:p>
            <a:pPr>
              <a:spcAft>
                <a:spcPts val="6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Saves student camera scans. Free tier includes 25,000 monthly image transformations or 25 GB storage.</a:t>
            </a:r>
          </a:p>
          <a:p>
            <a:pPr>
              <a:spcBef>
                <a:spcPts val="600"/>
              </a:spcBef>
              <a:defRPr sz="1450" b="1">
                <a:solidFill>
                  <a:srgbClr val="A27CF8"/>
                </a:solidFill>
                <a:latin typeface="Arial"/>
              </a:defRPr>
            </a:pPr>
            <a:r>
              <a:t>✔  Databricks Genie Agent (Community Edition)</a:t>
            </a:r>
          </a:p>
          <a:p>
            <a:pPr>
              <a:spcAft>
                <a:spcPts val="6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Queries analytical tables mounted via GCS, translating plain English into Lakehouse SQL charts.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RAPID DEPLOYMENT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Execution Plan - 12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50" b="1">
                <a:solidFill>
                  <a:srgbClr val="333136"/>
                </a:solidFill>
                <a:latin typeface="Arial"/>
              </a:defRPr>
            </a:pPr>
            <a:r>
              <a:t>Hours 1 - 3: Environment Setup &amp; Auth initialization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Initialize Next.js app, configure Tailwind styles, set up Firebase Console, activate Firebase Auth, and seed the Firestore database structure.</a:t>
            </a:r>
          </a:p>
          <a:p>
            <a:pPr>
              <a:spcBef>
                <a:spcPts val="800"/>
              </a:spcBef>
              <a:defRPr sz="1450" b="1">
                <a:solidFill>
                  <a:srgbClr val="333136"/>
                </a:solidFill>
                <a:latin typeface="Arial"/>
              </a:defRPr>
            </a:pPr>
            <a:r>
              <a:t>Hours 4 - 6: Core Gamification API Development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Code backend Express logic for camera uploads, Cloudinary storage setup, passport stamps logging, and streak comparisons.</a:t>
            </a:r>
          </a:p>
          <a:p>
            <a:pPr>
              <a:spcBef>
                <a:spcPts val="800"/>
              </a:spcBef>
              <a:defRPr sz="1450" b="1">
                <a:solidFill>
                  <a:srgbClr val="333136"/>
                </a:solidFill>
                <a:latin typeface="Arial"/>
              </a:defRPr>
            </a:pPr>
            <a:r>
              <a:t>Hours 7 - 9: Client Interface Integration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Wire up React Context hook inside frontend views. Bind Scanner maps, messaging streams, and Hub profile recommendations.</a:t>
            </a:r>
          </a:p>
          <a:p>
            <a:pPr>
              <a:spcBef>
                <a:spcPts val="800"/>
              </a:spcBef>
              <a:defRPr sz="1450" b="1">
                <a:solidFill>
                  <a:srgbClr val="333136"/>
                </a:solidFill>
                <a:latin typeface="Arial"/>
              </a:defRPr>
            </a:pPr>
            <a:r>
              <a:t>Hours 10 - 12: Analytics desk config, polishing &amp; Vercel deployment</a:t>
            </a:r>
          </a:p>
          <a:p>
            <a:pPr>
              <a:spcAft>
                <a:spcPts val="800"/>
              </a:spcAft>
              <a:defRPr sz="1200">
                <a:solidFill>
                  <a:srgbClr val="635D73"/>
                </a:solidFill>
                <a:latin typeface="Arial"/>
              </a:defRPr>
            </a:pPr>
            <a:r>
              <a:t>Sync Firestore to GCS, mount Delta tables in Databricks Genie, verify code compile builds, and deploy onto Vercel and Render free hosts.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28F5F"/>
                </a:solidFill>
                <a:latin typeface="Arial"/>
              </a:defRPr>
            </a:pPr>
            <a:r>
              <a:t>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136"/>
                </a:solidFill>
                <a:latin typeface="Arial"/>
              </a:defRPr>
            </a:pPr>
            <a:r>
              <a:t>Risks and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50" b="1">
                <a:solidFill>
                  <a:srgbClr val="F28F5F"/>
                </a:solidFill>
                <a:latin typeface="Arial"/>
              </a:defRPr>
            </a:pPr>
            <a:r>
              <a:t>⚠  Risk 1: Firestore Daily Read Limit Exceeded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Mitigation: Implement aggressive client-side caching using browser LocalStorage. Only sync modified documents (messages, stamp items) to Firestore when new scans or chat updates occur.</a:t>
            </a:r>
          </a:p>
          <a:p>
            <a:pPr>
              <a:spcBef>
                <a:spcPts val="800"/>
              </a:spcBef>
              <a:defRPr sz="1450" b="1">
                <a:solidFill>
                  <a:srgbClr val="F28F5F"/>
                </a:solidFill>
                <a:latin typeface="Arial"/>
              </a:defRPr>
            </a:pPr>
            <a:r>
              <a:t>⚠  Risk 2: Render API Server Cold Starts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Mitigation: Set up a periodic uptime heartbeat query from the client application or a cron scheduler to prevent Render's free instance from sleeping, ensuring immediate response times.</a:t>
            </a:r>
          </a:p>
          <a:p>
            <a:pPr>
              <a:spcBef>
                <a:spcPts val="800"/>
              </a:spcBef>
              <a:defRPr sz="1450" b="1">
                <a:solidFill>
                  <a:srgbClr val="F28F5F"/>
                </a:solidFill>
                <a:latin typeface="Arial"/>
              </a:defRPr>
            </a:pPr>
            <a:r>
              <a:t>⚠  Risk 3: Internet Outage in Basements</a:t>
            </a:r>
          </a:p>
          <a:p>
            <a:pPr>
              <a:spcAft>
                <a:spcPts val="800"/>
              </a:spcAft>
              <a:defRPr sz="1200">
                <a:solidFill>
                  <a:srgbClr val="333136"/>
                </a:solidFill>
                <a:latin typeface="Arial"/>
              </a:defRPr>
            </a:pPr>
            <a:r>
              <a:t>Mitigation: Queue scan data locally in a LocalStorage buffer while offline, and automatically upload and process coordinates once connection is restored.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